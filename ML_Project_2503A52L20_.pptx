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57" r:id="rId3"/>
    <p:sldId id="269" r:id="rId4"/>
    <p:sldId id="274" r:id="rId5"/>
    <p:sldId id="270" r:id="rId6"/>
    <p:sldId id="275" r:id="rId7"/>
    <p:sldId id="271" r:id="rId8"/>
    <p:sldId id="272" r:id="rId9"/>
    <p:sldId id="277" r:id="rId10"/>
    <p:sldId id="278" r:id="rId11"/>
    <p:sldId id="273" r:id="rId12"/>
    <p:sldId id="27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1FEC-C31A-AB91-92FC-A9FF10EDE5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EAC52E8-90F2-A5CC-DB02-DA8DD6F133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BE9821-F103-DC24-42DE-E1DA7A7549E0}"/>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5" name="Footer Placeholder 4">
            <a:extLst>
              <a:ext uri="{FF2B5EF4-FFF2-40B4-BE49-F238E27FC236}">
                <a16:creationId xmlns:a16="http://schemas.microsoft.com/office/drawing/2014/main" id="{09AAE466-D154-DA86-AE2B-DC123158E1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8D6790-92D5-C7D0-AC5B-F42C1E71FC63}"/>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1071262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61471-8EBB-B0D3-1D0D-99E9C5F856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9962B4-6424-5B71-7032-89718CDD8A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14A104-0FE2-D852-2647-05162ABF2D42}"/>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5" name="Footer Placeholder 4">
            <a:extLst>
              <a:ext uri="{FF2B5EF4-FFF2-40B4-BE49-F238E27FC236}">
                <a16:creationId xmlns:a16="http://schemas.microsoft.com/office/drawing/2014/main" id="{85DECFEB-D1AD-76B5-F91F-4F1A03E44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CFE5B2-839F-EC3B-3018-E41C0114F294}"/>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672341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542F-6F09-35A4-E3F9-5CE805DA15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0874BE4-1B72-CFD8-5468-9AEB640FBD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42CC5A-858C-A66D-0164-C9BE9EC0430A}"/>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5" name="Footer Placeholder 4">
            <a:extLst>
              <a:ext uri="{FF2B5EF4-FFF2-40B4-BE49-F238E27FC236}">
                <a16:creationId xmlns:a16="http://schemas.microsoft.com/office/drawing/2014/main" id="{CCBE7E04-73B9-DBB9-E432-CEFF0AA773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32DCF1-4AB1-2006-15AD-12B7474891D6}"/>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1532410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8555-6A2C-D76B-DB38-CCAA4262DF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E10CC28-9D7E-DEAF-8E91-B3B48E86A0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5AA576B-86F6-4A96-1DBA-7FA63163F7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10A2F1-FF6A-3A5B-2523-2F3263114C2C}"/>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6" name="Footer Placeholder 5">
            <a:extLst>
              <a:ext uri="{FF2B5EF4-FFF2-40B4-BE49-F238E27FC236}">
                <a16:creationId xmlns:a16="http://schemas.microsoft.com/office/drawing/2014/main" id="{B290FBCF-CB98-31F2-6F9C-6CEFE6D0BA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E0E0F6-4993-3D37-59CB-2646748309B1}"/>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879272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4A854-98E4-6BD1-BD89-3174892FE7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132045-BB70-8CE8-E92D-9E06F66B0D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6AA74D-7985-689F-01AC-5911649388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12C2BC-3984-75AD-F862-01E2DE3AE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D3C5E6-FC41-177A-35EF-BFEAD76747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D98BA1A-6F25-CDD9-EE19-CF5E809BCF3E}"/>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8" name="Footer Placeholder 7">
            <a:extLst>
              <a:ext uri="{FF2B5EF4-FFF2-40B4-BE49-F238E27FC236}">
                <a16:creationId xmlns:a16="http://schemas.microsoft.com/office/drawing/2014/main" id="{5026DDDF-8980-07B8-5AAF-17A2C84969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E92954-DDAC-E8C3-3B0C-B2B9124FD182}"/>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2322283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79325-1B0E-84AA-9228-42F2CCC4F54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522D09F-7B43-FF8F-2DC5-66070B8B4343}"/>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4" name="Footer Placeholder 3">
            <a:extLst>
              <a:ext uri="{FF2B5EF4-FFF2-40B4-BE49-F238E27FC236}">
                <a16:creationId xmlns:a16="http://schemas.microsoft.com/office/drawing/2014/main" id="{EF2C34EE-A7C2-C87C-9885-0A167997B2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E446AA3-DB40-84B6-338D-8B34C1EB994C}"/>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3295506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CA2350-2F86-A4CD-7F32-6C311FA60695}"/>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3" name="Footer Placeholder 2">
            <a:extLst>
              <a:ext uri="{FF2B5EF4-FFF2-40B4-BE49-F238E27FC236}">
                <a16:creationId xmlns:a16="http://schemas.microsoft.com/office/drawing/2014/main" id="{CF59E36C-1032-1B3A-FBC2-AA5D67E3CA4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CE3214-7F33-9463-3906-0336E48387A6}"/>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223141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4B54E-9AC0-009E-0F8A-6686B5F3B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C549D3-500C-2305-541F-0024198237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93A313-D429-3360-899F-01A1A0623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6E3E1B-31AE-9FA0-C9D2-04B6390E6B38}"/>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6" name="Footer Placeholder 5">
            <a:extLst>
              <a:ext uri="{FF2B5EF4-FFF2-40B4-BE49-F238E27FC236}">
                <a16:creationId xmlns:a16="http://schemas.microsoft.com/office/drawing/2014/main" id="{9156DA71-CEDA-92AE-7D87-EDD7C2DC35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3C2F93-FD62-03DE-9A23-7B4C5C6F4B9A}"/>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413811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0221-D12B-9C28-0C0A-9940419DFF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1D1FB70-33E9-272F-D0C2-097F41643B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D20C88-5267-0F70-21EC-7959769344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E8F0E7-9C37-0C1D-E70E-AE69F54EDAAB}"/>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6" name="Footer Placeholder 5">
            <a:extLst>
              <a:ext uri="{FF2B5EF4-FFF2-40B4-BE49-F238E27FC236}">
                <a16:creationId xmlns:a16="http://schemas.microsoft.com/office/drawing/2014/main" id="{4D189F15-38D0-B704-797A-91DDC1A062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17D29A-47AA-99DF-DEFB-8586999E5D6E}"/>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4043102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3EE01-EAD8-2836-D655-103160ED375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66BEBF-C1FA-EEA1-6E26-731FECBB28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987B3A-41A6-8075-FABF-9933761D1817}"/>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5" name="Footer Placeholder 4">
            <a:extLst>
              <a:ext uri="{FF2B5EF4-FFF2-40B4-BE49-F238E27FC236}">
                <a16:creationId xmlns:a16="http://schemas.microsoft.com/office/drawing/2014/main" id="{AD1645EE-1E15-A4FE-2328-DC3340E06E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86177E-BFDD-27AF-CD6C-DBE266E64852}"/>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792178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700D5A-5A6E-B59D-B4E3-550005590F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C9E999-93E7-2F04-1A0F-19ACE7E6A7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7E7107-F30E-3442-DCEB-ACA372F2875F}"/>
              </a:ext>
            </a:extLst>
          </p:cNvPr>
          <p:cNvSpPr>
            <a:spLocks noGrp="1"/>
          </p:cNvSpPr>
          <p:nvPr>
            <p:ph type="dt" sz="half" idx="10"/>
          </p:nvPr>
        </p:nvSpPr>
        <p:spPr/>
        <p:txBody>
          <a:bodyPr/>
          <a:lstStyle/>
          <a:p>
            <a:fld id="{AFD232A2-B57C-4D98-B712-768580F8ED2E}" type="datetimeFigureOut">
              <a:rPr lang="en-IN" smtClean="0"/>
              <a:pPr/>
              <a:t>14-04-2026</a:t>
            </a:fld>
            <a:endParaRPr lang="en-IN"/>
          </a:p>
        </p:txBody>
      </p:sp>
      <p:sp>
        <p:nvSpPr>
          <p:cNvPr id="5" name="Footer Placeholder 4">
            <a:extLst>
              <a:ext uri="{FF2B5EF4-FFF2-40B4-BE49-F238E27FC236}">
                <a16:creationId xmlns:a16="http://schemas.microsoft.com/office/drawing/2014/main" id="{6BF21AEF-699A-267E-75CA-04BD6FBC1B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AD6601-36F9-0F13-001E-92878ED6ED9A}"/>
              </a:ext>
            </a:extLst>
          </p:cNvPr>
          <p:cNvSpPr>
            <a:spLocks noGrp="1"/>
          </p:cNvSpPr>
          <p:nvPr>
            <p:ph type="sldNum" sz="quarter" idx="12"/>
          </p:nvPr>
        </p:nvSpPr>
        <p:spPr/>
        <p:txBody>
          <a:bodyPr/>
          <a:lstStyle/>
          <a:p>
            <a:fld id="{194F743F-45CA-4378-8ACD-BE2BC8D30EE1}" type="slidenum">
              <a:rPr lang="en-IN" smtClean="0"/>
              <a:pPr/>
              <a:t>‹#›</a:t>
            </a:fld>
            <a:endParaRPr lang="en-IN"/>
          </a:p>
        </p:txBody>
      </p:sp>
    </p:spTree>
    <p:extLst>
      <p:ext uri="{BB962C8B-B14F-4D97-AF65-F5344CB8AC3E}">
        <p14:creationId xmlns:p14="http://schemas.microsoft.com/office/powerpoint/2010/main" val="372686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97125A-5466-F2E9-0AC8-6A261D7500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0D63C6-F212-3395-2274-105712572E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D24167-8272-4620-8225-56C9D38A5A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D232A2-B57C-4D98-B712-768580F8ED2E}" type="datetimeFigureOut">
              <a:rPr lang="en-IN" smtClean="0"/>
              <a:pPr/>
              <a:t>14-04-2026</a:t>
            </a:fld>
            <a:endParaRPr lang="en-IN"/>
          </a:p>
        </p:txBody>
      </p:sp>
      <p:sp>
        <p:nvSpPr>
          <p:cNvPr id="5" name="Footer Placeholder 4">
            <a:extLst>
              <a:ext uri="{FF2B5EF4-FFF2-40B4-BE49-F238E27FC236}">
                <a16:creationId xmlns:a16="http://schemas.microsoft.com/office/drawing/2014/main" id="{F7A1D1FD-50D5-FF3A-54CD-46EBB9ECC3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7ED759-1683-1FCC-4C53-59A54094AE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4F743F-45CA-4378-8ACD-BE2BC8D30EE1}" type="slidenum">
              <a:rPr lang="en-IN" smtClean="0"/>
              <a:pPr/>
              <a:t>‹#›</a:t>
            </a:fld>
            <a:endParaRPr lang="en-IN"/>
          </a:p>
        </p:txBody>
      </p:sp>
    </p:spTree>
    <p:extLst>
      <p:ext uri="{BB962C8B-B14F-4D97-AF65-F5344CB8AC3E}">
        <p14:creationId xmlns:p14="http://schemas.microsoft.com/office/powerpoint/2010/main" val="696738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5E26-B3B8-7510-8A6E-FF835354B9F7}"/>
              </a:ext>
            </a:extLst>
          </p:cNvPr>
          <p:cNvSpPr>
            <a:spLocks noGrp="1"/>
          </p:cNvSpPr>
          <p:nvPr>
            <p:ph type="title"/>
          </p:nvPr>
        </p:nvSpPr>
        <p:spPr>
          <a:xfrm>
            <a:off x="793229" y="900410"/>
            <a:ext cx="10515600" cy="2852737"/>
          </a:xfrm>
        </p:spPr>
        <p:txBody>
          <a:bodyPr>
            <a:normAutofit fontScale="90000"/>
          </a:bodyPr>
          <a:lstStyle/>
          <a:p>
            <a:br>
              <a:rPr lang="en-IN" dirty="0"/>
            </a:br>
            <a:br>
              <a:rPr lang="en-IN" dirty="0"/>
            </a:br>
            <a:br>
              <a:rPr lang="en-IN" dirty="0"/>
            </a:br>
            <a:br>
              <a:rPr lang="en-IN" dirty="0"/>
            </a:br>
            <a:r>
              <a:rPr lang="en-US" dirty="0"/>
              <a:t>Air Sense: </a:t>
            </a:r>
            <a:r>
              <a:rPr lang="en-US" sz="5300" dirty="0"/>
              <a:t>Real-Time Air Quality Index Prediction Using Machine Learning</a:t>
            </a:r>
            <a:endParaRPr lang="en-IN" sz="5300" dirty="0"/>
          </a:p>
        </p:txBody>
      </p:sp>
      <p:sp>
        <p:nvSpPr>
          <p:cNvPr id="6" name="Text Placeholder 5">
            <a:extLst>
              <a:ext uri="{FF2B5EF4-FFF2-40B4-BE49-F238E27FC236}">
                <a16:creationId xmlns:a16="http://schemas.microsoft.com/office/drawing/2014/main" id="{44D91DC3-94E4-2D50-4DEA-B5558D7BB2A2}"/>
              </a:ext>
            </a:extLst>
          </p:cNvPr>
          <p:cNvSpPr>
            <a:spLocks noGrp="1"/>
          </p:cNvSpPr>
          <p:nvPr>
            <p:ph type="body" idx="1"/>
          </p:nvPr>
        </p:nvSpPr>
        <p:spPr/>
        <p:txBody>
          <a:bodyPr/>
          <a:lstStyle/>
          <a:p>
            <a:r>
              <a:rPr lang="en-IN" dirty="0"/>
              <a:t>Project By – G.Sanjansah , 2503A52L20.</a:t>
            </a:r>
          </a:p>
        </p:txBody>
      </p:sp>
      <p:sp>
        <p:nvSpPr>
          <p:cNvPr id="4" name="Title 1">
            <a:extLst>
              <a:ext uri="{FF2B5EF4-FFF2-40B4-BE49-F238E27FC236}">
                <a16:creationId xmlns:a16="http://schemas.microsoft.com/office/drawing/2014/main" id="{A92F5E26-B3B8-7510-8A6E-FF835354B9F7}"/>
              </a:ext>
            </a:extLst>
          </p:cNvPr>
          <p:cNvSpPr txBox="1">
            <a:spLocks/>
          </p:cNvSpPr>
          <p:nvPr/>
        </p:nvSpPr>
        <p:spPr>
          <a:xfrm>
            <a:off x="437213" y="2248526"/>
            <a:ext cx="11227633" cy="886918"/>
          </a:xfrm>
          <a:prstGeom prst="rect">
            <a:avLst/>
          </a:prstGeom>
        </p:spPr>
        <p:txBody>
          <a:bodyPr vert="horz" lIns="91440" tIns="45720" rIns="91440" bIns="45720" rtlCol="0" anchor="b">
            <a:normAutofit fontScale="55000" lnSpcReduction="20000"/>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6000" b="0" i="0" u="none" strike="noStrike" kern="1200" cap="none" spc="0" normalizeH="0" baseline="0" noProof="0" dirty="0">
                <a:ln>
                  <a:noFill/>
                </a:ln>
                <a:solidFill>
                  <a:schemeClr val="tx1"/>
                </a:solidFill>
                <a:effectLst/>
                <a:uLnTx/>
                <a:uFillTx/>
                <a:latin typeface="+mj-lt"/>
                <a:ea typeface="+mj-ea"/>
                <a:cs typeface="+mj-cs"/>
              </a:rPr>
              <a:t> </a:t>
            </a:r>
            <a:br>
              <a:rPr kumimoji="0" lang="en-IN" sz="6000" b="0" i="0" u="none" strike="noStrike" kern="1200" cap="none" spc="0" normalizeH="0" baseline="0" noProof="0" dirty="0">
                <a:ln>
                  <a:noFill/>
                </a:ln>
                <a:solidFill>
                  <a:schemeClr val="tx1"/>
                </a:solidFill>
                <a:effectLst/>
                <a:uLnTx/>
                <a:uFillTx/>
                <a:latin typeface="+mj-lt"/>
                <a:ea typeface="+mj-ea"/>
                <a:cs typeface="+mj-cs"/>
              </a:rPr>
            </a:br>
            <a:endParaRPr kumimoji="0" lang="en-IN" sz="6000" b="0" i="0" u="none" strike="noStrike" kern="1200" cap="none" spc="0" normalizeH="0" baseline="0" noProof="0" dirty="0">
              <a:ln>
                <a:noFill/>
              </a:ln>
              <a:solidFill>
                <a:schemeClr val="tx1"/>
              </a:solidFill>
              <a:effectLst/>
              <a:uLnTx/>
              <a:uFillTx/>
              <a:latin typeface="+mj-lt"/>
              <a:ea typeface="+mj-ea"/>
              <a:cs typeface="+mj-cs"/>
            </a:endParaRPr>
          </a:p>
        </p:txBody>
      </p:sp>
      <p:pic>
        <p:nvPicPr>
          <p:cNvPr id="5" name="Picture 4" descr="WhatsApp Image 2024-08-23 at 15.43.17">
            <a:extLst>
              <a:ext uri="{FF2B5EF4-FFF2-40B4-BE49-F238E27FC236}">
                <a16:creationId xmlns:a16="http://schemas.microsoft.com/office/drawing/2014/main" id="{C027CC2F-7B4F-AA9B-4D81-E98F83DF2328}"/>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9" name="Group 8">
            <a:extLst>
              <a:ext uri="{FF2B5EF4-FFF2-40B4-BE49-F238E27FC236}">
                <a16:creationId xmlns:a16="http://schemas.microsoft.com/office/drawing/2014/main" id="{7843BD2A-3656-4EFB-EE81-1532C7D1499D}"/>
              </a:ext>
            </a:extLst>
          </p:cNvPr>
          <p:cNvGrpSpPr/>
          <p:nvPr/>
        </p:nvGrpSpPr>
        <p:grpSpPr>
          <a:xfrm>
            <a:off x="2336800" y="134364"/>
            <a:ext cx="9855200" cy="677445"/>
            <a:chOff x="2336800" y="134364"/>
            <a:chExt cx="9855200" cy="677445"/>
          </a:xfrm>
          <a:solidFill>
            <a:srgbClr val="194E91"/>
          </a:solidFill>
        </p:grpSpPr>
        <p:sp>
          <p:nvSpPr>
            <p:cNvPr id="10" name="TextBox 9">
              <a:extLst>
                <a:ext uri="{FF2B5EF4-FFF2-40B4-BE49-F238E27FC236}">
                  <a16:creationId xmlns:a16="http://schemas.microsoft.com/office/drawing/2014/main" id="{50A3A666-1D60-C481-FA38-2B6816EEF98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11" name="TextBox 10">
              <a:extLst>
                <a:ext uri="{FF2B5EF4-FFF2-40B4-BE49-F238E27FC236}">
                  <a16:creationId xmlns:a16="http://schemas.microsoft.com/office/drawing/2014/main" id="{3D5B2BB8-BCBA-3DA1-A07C-DCC08FAF71AB}"/>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Tree>
    <p:extLst>
      <p:ext uri="{BB962C8B-B14F-4D97-AF65-F5344CB8AC3E}">
        <p14:creationId xmlns:p14="http://schemas.microsoft.com/office/powerpoint/2010/main" val="3512278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F1D82D-09A5-FC31-8A26-A636B14E5338}"/>
              </a:ext>
            </a:extLst>
          </p:cNvPr>
          <p:cNvSpPr>
            <a:spLocks noGrp="1"/>
          </p:cNvSpPr>
          <p:nvPr>
            <p:ph idx="1"/>
          </p:nvPr>
        </p:nvSpPr>
        <p:spPr>
          <a:xfrm>
            <a:off x="838200" y="1814775"/>
            <a:ext cx="10515600" cy="4898965"/>
          </a:xfrm>
        </p:spPr>
        <p:txBody>
          <a:bodyPr>
            <a:normAutofit lnSpcReduction="10000"/>
          </a:bodyPr>
          <a:lstStyle/>
          <a:p>
            <a:pPr>
              <a:lnSpc>
                <a:spcPct val="110000"/>
              </a:lnSpc>
            </a:pPr>
            <a:endParaRPr lang="en-US" b="1" dirty="0"/>
          </a:p>
          <a:p>
            <a:pPr algn="just">
              <a:lnSpc>
                <a:spcPct val="110000"/>
              </a:lnSpc>
            </a:pPr>
            <a:r>
              <a:rPr lang="en-US" b="1" dirty="0">
                <a:highlight>
                  <a:srgbClr val="FFFF00"/>
                </a:highlight>
              </a:rPr>
              <a:t>Title:</a:t>
            </a:r>
            <a:r>
              <a:rPr lang="en-US" dirty="0">
                <a:highlight>
                  <a:srgbClr val="FFFF00"/>
                </a:highlight>
              </a:rPr>
              <a:t> </a:t>
            </a:r>
            <a:r>
              <a:rPr lang="en-US" dirty="0"/>
              <a:t>Air Sense – Real-Time Air Quality Intelligence</a:t>
            </a:r>
          </a:p>
          <a:p>
            <a:pPr marL="0" indent="0" algn="just">
              <a:lnSpc>
                <a:spcPct val="110000"/>
              </a:lnSpc>
              <a:buNone/>
            </a:pPr>
            <a:endParaRPr lang="en-US" dirty="0"/>
          </a:p>
          <a:p>
            <a:pPr algn="just">
              <a:lnSpc>
                <a:spcPct val="110000"/>
              </a:lnSpc>
            </a:pPr>
            <a:r>
              <a:rPr lang="en-US" b="1" dirty="0">
                <a:highlight>
                  <a:srgbClr val="FFFF00"/>
                </a:highlight>
              </a:rPr>
              <a:t>Problem Statement:</a:t>
            </a:r>
            <a:r>
              <a:rPr lang="en-US" dirty="0">
                <a:highlight>
                  <a:srgbClr val="FFFF00"/>
                </a:highlight>
              </a:rPr>
              <a:t> </a:t>
            </a:r>
            <a:r>
              <a:rPr lang="en-US" dirty="0"/>
              <a:t>Air pollution is a critical global health concern affecting millions worldwide. Citizens lack accessible, easy-to-understand tools to check the Air Quality Index (AQI) and receive actionable health recommendations. Air Sense addresses this gap by combining ML-based AQI prediction with an intuitive, visually rich web dashboard that provides real-time monitoring, forecasts, city comparisons, and personalized health advisories</a:t>
            </a:r>
          </a:p>
          <a:p>
            <a:endParaRPr lang="en-IN" dirty="0"/>
          </a:p>
        </p:txBody>
      </p:sp>
      <p:pic>
        <p:nvPicPr>
          <p:cNvPr id="4" name="Picture 3" descr="WhatsApp Image 2024-08-23 at 15.43.17">
            <a:extLst>
              <a:ext uri="{FF2B5EF4-FFF2-40B4-BE49-F238E27FC236}">
                <a16:creationId xmlns:a16="http://schemas.microsoft.com/office/drawing/2014/main" id="{C027CC2F-7B4F-AA9B-4D81-E98F83DF2328}"/>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7843BD2A-3656-4EFB-EE81-1532C7D1499D}"/>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50A3A666-1D60-C481-FA38-2B6816EEF98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D5B2BB8-BCBA-3DA1-A07C-DCC08FAF71AB}"/>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B9D48B01-37B9-97E4-EFD4-8FCEA2F36F62}"/>
              </a:ext>
            </a:extLst>
          </p:cNvPr>
          <p:cNvSpPr>
            <a:spLocks noGrp="1"/>
          </p:cNvSpPr>
          <p:nvPr>
            <p:ph type="title"/>
          </p:nvPr>
        </p:nvSpPr>
        <p:spPr>
          <a:xfrm>
            <a:off x="838200" y="691886"/>
            <a:ext cx="10515600" cy="1325563"/>
          </a:xfrm>
        </p:spPr>
        <p:txBody>
          <a:bodyPr/>
          <a:lstStyle/>
          <a:p>
            <a:r>
              <a:rPr lang="en-US" dirty="0"/>
              <a:t>Project Title &amp; Problem Statement</a:t>
            </a:r>
            <a:endParaRPr lang="en-IN" dirty="0"/>
          </a:p>
        </p:txBody>
      </p:sp>
    </p:spTree>
    <p:extLst>
      <p:ext uri="{BB962C8B-B14F-4D97-AF65-F5344CB8AC3E}">
        <p14:creationId xmlns:p14="http://schemas.microsoft.com/office/powerpoint/2010/main" val="832844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E63A2-00C0-B07F-AA00-5D7095FBE5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16F82B-6C8C-7EC6-A02D-817BD444960F}"/>
              </a:ext>
            </a:extLst>
          </p:cNvPr>
          <p:cNvSpPr>
            <a:spLocks noGrp="1"/>
          </p:cNvSpPr>
          <p:nvPr>
            <p:ph idx="1"/>
          </p:nvPr>
        </p:nvSpPr>
        <p:spPr>
          <a:xfrm>
            <a:off x="838200" y="1922930"/>
            <a:ext cx="10515600" cy="4935070"/>
          </a:xfrm>
        </p:spPr>
        <p:txBody>
          <a:bodyPr>
            <a:normAutofit fontScale="92500" lnSpcReduction="10000"/>
          </a:bodyPr>
          <a:lstStyle/>
          <a:p>
            <a:pPr marL="0" indent="0" algn="just">
              <a:lnSpc>
                <a:spcPct val="100000"/>
              </a:lnSpc>
              <a:buNone/>
            </a:pPr>
            <a:r>
              <a:rPr lang="en-US" dirty="0"/>
              <a:t>Air Sense is a Machine Learning-powered Air Quality Index (AQI) prediction system with a premium interactive web dashboard. It:</a:t>
            </a:r>
          </a:p>
          <a:p>
            <a:pPr marL="0" indent="0" algn="just">
              <a:lnSpc>
                <a:spcPct val="100000"/>
              </a:lnSpc>
              <a:buNone/>
            </a:pPr>
            <a:endParaRPr lang="en-US" dirty="0"/>
          </a:p>
          <a:p>
            <a:pPr algn="just">
              <a:lnSpc>
                <a:spcPct val="100000"/>
              </a:lnSpc>
            </a:pPr>
            <a:r>
              <a:rPr lang="en-US" b="1" dirty="0"/>
              <a:t>Predicts AQI values</a:t>
            </a:r>
            <a:r>
              <a:rPr lang="en-US" dirty="0"/>
              <a:t> from pollutant concentrations (PM2.5, PM10, NO₂, O₃, CO) and environmental parameters (Temperature, Humidity, Wind Speed).</a:t>
            </a:r>
          </a:p>
          <a:p>
            <a:pPr algn="just">
              <a:lnSpc>
                <a:spcPct val="100000"/>
              </a:lnSpc>
            </a:pPr>
            <a:endParaRPr lang="en-US" dirty="0"/>
          </a:p>
          <a:p>
            <a:pPr algn="just">
              <a:lnSpc>
                <a:spcPct val="100000"/>
              </a:lnSpc>
            </a:pPr>
            <a:r>
              <a:rPr lang="en-US" b="1" dirty="0"/>
              <a:t>Classifies air quality</a:t>
            </a:r>
            <a:r>
              <a:rPr lang="en-US" dirty="0"/>
              <a:t> into 6 health tiers: Good, Moderate, Unhealthy for Sensitive Groups, Unhealthy, Very Unhealthy, and Hazardous.</a:t>
            </a:r>
          </a:p>
          <a:p>
            <a:pPr algn="just">
              <a:lnSpc>
                <a:spcPct val="100000"/>
              </a:lnSpc>
            </a:pPr>
            <a:endParaRPr lang="en-US" dirty="0"/>
          </a:p>
          <a:p>
            <a:pPr algn="just">
              <a:lnSpc>
                <a:spcPct val="100000"/>
              </a:lnSpc>
            </a:pPr>
            <a:r>
              <a:rPr lang="en-US" b="1" dirty="0"/>
              <a:t>Delivers personalized health recommendations</a:t>
            </a:r>
            <a:r>
              <a:rPr lang="en-US" dirty="0"/>
              <a:t> including Do's &amp; Don'ts based on current AQI levels.</a:t>
            </a:r>
          </a:p>
          <a:p>
            <a:pPr marL="0" indent="0">
              <a:buNone/>
            </a:pPr>
            <a:endParaRPr lang="en-US" dirty="0"/>
          </a:p>
        </p:txBody>
      </p:sp>
      <p:pic>
        <p:nvPicPr>
          <p:cNvPr id="4" name="Picture 3" descr="WhatsApp Image 2024-08-23 at 15.43.17">
            <a:extLst>
              <a:ext uri="{FF2B5EF4-FFF2-40B4-BE49-F238E27FC236}">
                <a16:creationId xmlns:a16="http://schemas.microsoft.com/office/drawing/2014/main" id="{C6DB009E-D217-9835-069B-3CCB6406F868}"/>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4ABC580D-CE79-70DF-D8ED-EAAF3BE22A9F}"/>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03D421C2-D315-15E4-E63E-C041CF423C76}"/>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DDA917CF-FF6A-56D1-67BD-6105B2E442F2}"/>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5A159F20-2FA7-62BC-6EBC-3450EB752BAC}"/>
              </a:ext>
            </a:extLst>
          </p:cNvPr>
          <p:cNvSpPr>
            <a:spLocks noGrp="1"/>
          </p:cNvSpPr>
          <p:nvPr>
            <p:ph type="title"/>
          </p:nvPr>
        </p:nvSpPr>
        <p:spPr>
          <a:xfrm>
            <a:off x="838200" y="691886"/>
            <a:ext cx="10515600" cy="1325563"/>
          </a:xfrm>
        </p:spPr>
        <p:txBody>
          <a:bodyPr/>
          <a:lstStyle/>
          <a:p>
            <a:r>
              <a:rPr lang="en-US" dirty="0"/>
              <a:t>Explanation of the Project</a:t>
            </a:r>
            <a:endParaRPr lang="en-IN" dirty="0"/>
          </a:p>
        </p:txBody>
      </p:sp>
    </p:spTree>
    <p:extLst>
      <p:ext uri="{BB962C8B-B14F-4D97-AF65-F5344CB8AC3E}">
        <p14:creationId xmlns:p14="http://schemas.microsoft.com/office/powerpoint/2010/main" val="1970945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77A2-0C00-97CD-D13B-F7F6BB2CCA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CE814D-C8CD-7CF8-D093-CB8DFB67D25A}"/>
              </a:ext>
            </a:extLst>
          </p:cNvPr>
          <p:cNvSpPr>
            <a:spLocks noGrp="1"/>
          </p:cNvSpPr>
          <p:nvPr>
            <p:ph idx="1"/>
          </p:nvPr>
        </p:nvSpPr>
        <p:spPr>
          <a:xfrm>
            <a:off x="838200" y="1922930"/>
            <a:ext cx="10515600" cy="4935070"/>
          </a:xfrm>
        </p:spPr>
        <p:txBody>
          <a:bodyPr>
            <a:normAutofit fontScale="92500" lnSpcReduction="10000"/>
          </a:bodyPr>
          <a:lstStyle/>
          <a:p>
            <a:pPr algn="just">
              <a:lnSpc>
                <a:spcPct val="150000"/>
              </a:lnSpc>
            </a:pPr>
            <a:r>
              <a:rPr lang="en-US" b="1" dirty="0"/>
              <a:t>Provides a 7-day AQI forecast</a:t>
            </a:r>
            <a:r>
              <a:rPr lang="en-US" dirty="0"/>
              <a:t> using AI-generated trend predictions.</a:t>
            </a:r>
          </a:p>
          <a:p>
            <a:pPr algn="just">
              <a:lnSpc>
                <a:spcPct val="150000"/>
              </a:lnSpc>
            </a:pPr>
            <a:r>
              <a:rPr lang="en-US" b="1" dirty="0"/>
              <a:t>Supports city comparison</a:t>
            </a:r>
            <a:r>
              <a:rPr lang="en-US" dirty="0"/>
              <a:t> – compare air quality between any two cities side by side.</a:t>
            </a:r>
          </a:p>
          <a:p>
            <a:pPr algn="just">
              <a:lnSpc>
                <a:spcPct val="150000"/>
              </a:lnSpc>
            </a:pPr>
            <a:r>
              <a:rPr lang="en-US" b="1" dirty="0"/>
              <a:t>Offers GPS auto-detection</a:t>
            </a:r>
            <a:r>
              <a:rPr lang="en-US" dirty="0"/>
              <a:t> and search for 500+ cities globally.</a:t>
            </a:r>
          </a:p>
          <a:p>
            <a:pPr marL="0" indent="0" algn="just">
              <a:lnSpc>
                <a:spcPct val="150000"/>
              </a:lnSpc>
              <a:buNone/>
            </a:pPr>
            <a:r>
              <a:rPr lang="en-US" dirty="0"/>
              <a:t>The backend pipeline generates 1,200 synthetic training samples using realistic pollutant distributions, trains a Random Forest model, and exports it as a .joblib artifact. The frontend provides a zero-dependency, single-page interface.</a:t>
            </a:r>
          </a:p>
          <a:p>
            <a:pPr marL="0" indent="0">
              <a:buNone/>
            </a:pPr>
            <a:endParaRPr lang="en-US" dirty="0"/>
          </a:p>
        </p:txBody>
      </p:sp>
      <p:pic>
        <p:nvPicPr>
          <p:cNvPr id="4" name="Picture 3" descr="WhatsApp Image 2024-08-23 at 15.43.17">
            <a:extLst>
              <a:ext uri="{FF2B5EF4-FFF2-40B4-BE49-F238E27FC236}">
                <a16:creationId xmlns:a16="http://schemas.microsoft.com/office/drawing/2014/main" id="{930D2E18-8257-C062-F64F-B2774B004D4E}"/>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87308619-57EA-3CE1-B9B9-276F2788912B}"/>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95B41398-02AF-6617-ED64-C1AB86A5B00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AE53C636-AA8F-07FC-078C-6A25EEA07A5F}"/>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B5BD87BC-F538-35C1-50CD-D90D9B8FB1EE}"/>
              </a:ext>
            </a:extLst>
          </p:cNvPr>
          <p:cNvSpPr>
            <a:spLocks noGrp="1"/>
          </p:cNvSpPr>
          <p:nvPr>
            <p:ph type="title"/>
          </p:nvPr>
        </p:nvSpPr>
        <p:spPr>
          <a:xfrm>
            <a:off x="838200" y="691886"/>
            <a:ext cx="10515600" cy="1325563"/>
          </a:xfrm>
        </p:spPr>
        <p:txBody>
          <a:bodyPr/>
          <a:lstStyle/>
          <a:p>
            <a:r>
              <a:rPr lang="en-US" dirty="0"/>
              <a:t>Explanation of the Project</a:t>
            </a:r>
            <a:endParaRPr lang="en-IN" dirty="0"/>
          </a:p>
        </p:txBody>
      </p:sp>
    </p:spTree>
    <p:extLst>
      <p:ext uri="{BB962C8B-B14F-4D97-AF65-F5344CB8AC3E}">
        <p14:creationId xmlns:p14="http://schemas.microsoft.com/office/powerpoint/2010/main" val="3326621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819A6-3762-F2D8-28BB-E1093F46A2EA}"/>
            </a:ext>
          </a:extLst>
        </p:cNvPr>
        <p:cNvGrpSpPr/>
        <p:nvPr/>
      </p:nvGrpSpPr>
      <p:grpSpPr>
        <a:xfrm>
          <a:off x="0" y="0"/>
          <a:ext cx="0" cy="0"/>
          <a:chOff x="0" y="0"/>
          <a:chExt cx="0" cy="0"/>
        </a:xfrm>
      </p:grpSpPr>
      <p:pic>
        <p:nvPicPr>
          <p:cNvPr id="4" name="Picture 3" descr="WhatsApp Image 2024-08-23 at 15.43.17">
            <a:extLst>
              <a:ext uri="{FF2B5EF4-FFF2-40B4-BE49-F238E27FC236}">
                <a16:creationId xmlns:a16="http://schemas.microsoft.com/office/drawing/2014/main" id="{5B7B88D3-CB2D-B8F9-5AD1-92CEB3E46F18}"/>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213C94EF-EA15-C34A-7BAA-0847EDF3E6CB}"/>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7658CEE9-1C2F-C2F8-975A-4FF9E9B9A342}"/>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F660B4A9-DC62-E2DD-B16D-4D40C3B6FC0F}"/>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B26E9A75-B616-ACFF-5103-A81EEA5ABDC9}"/>
              </a:ext>
            </a:extLst>
          </p:cNvPr>
          <p:cNvSpPr>
            <a:spLocks noGrp="1"/>
          </p:cNvSpPr>
          <p:nvPr>
            <p:ph type="title"/>
          </p:nvPr>
        </p:nvSpPr>
        <p:spPr>
          <a:xfrm>
            <a:off x="838200" y="821704"/>
            <a:ext cx="10515600" cy="1325563"/>
          </a:xfrm>
        </p:spPr>
        <p:txBody>
          <a:bodyPr/>
          <a:lstStyle/>
          <a:p>
            <a:r>
              <a:rPr lang="en-US" dirty="0"/>
              <a:t>Description of the Model/Algorithm(s) Used</a:t>
            </a:r>
            <a:endParaRPr lang="en-IN" dirty="0"/>
          </a:p>
        </p:txBody>
      </p:sp>
      <p:sp>
        <p:nvSpPr>
          <p:cNvPr id="10" name="Content Placeholder 9">
            <a:extLst>
              <a:ext uri="{FF2B5EF4-FFF2-40B4-BE49-F238E27FC236}">
                <a16:creationId xmlns:a16="http://schemas.microsoft.com/office/drawing/2014/main" id="{8C0499B2-0051-DBE3-88D8-DE53626401A9}"/>
              </a:ext>
            </a:extLst>
          </p:cNvPr>
          <p:cNvSpPr>
            <a:spLocks noGrp="1"/>
          </p:cNvSpPr>
          <p:nvPr>
            <p:ph idx="1"/>
          </p:nvPr>
        </p:nvSpPr>
        <p:spPr>
          <a:xfrm>
            <a:off x="838200" y="1874785"/>
            <a:ext cx="10515600" cy="5086453"/>
          </a:xfrm>
        </p:spPr>
        <p:txBody>
          <a:bodyPr>
            <a:normAutofit fontScale="92500" lnSpcReduction="20000"/>
          </a:bodyPr>
          <a:lstStyle/>
          <a:p>
            <a:pPr marL="0" indent="0" algn="just">
              <a:lnSpc>
                <a:spcPct val="150000"/>
              </a:lnSpc>
              <a:buNone/>
            </a:pPr>
            <a:r>
              <a:rPr lang="en-IN" b="1" dirty="0">
                <a:solidFill>
                  <a:srgbClr val="FF0000"/>
                </a:solidFill>
              </a:rPr>
              <a:t>Model &amp; Implementation Details :</a:t>
            </a:r>
          </a:p>
          <a:p>
            <a:pPr algn="just">
              <a:lnSpc>
                <a:spcPct val="150000"/>
              </a:lnSpc>
            </a:pPr>
            <a:r>
              <a:rPr lang="en-IN" b="1" dirty="0"/>
              <a:t>Algorithm:</a:t>
            </a:r>
            <a:r>
              <a:rPr lang="en-IN" dirty="0"/>
              <a:t> Random Forest Regressor (scikit-learn) </a:t>
            </a:r>
          </a:p>
          <a:p>
            <a:pPr algn="just">
              <a:lnSpc>
                <a:spcPct val="150000"/>
              </a:lnSpc>
            </a:pPr>
            <a:r>
              <a:rPr lang="en-IN" b="1" dirty="0"/>
              <a:t>Pipeline:</a:t>
            </a:r>
            <a:r>
              <a:rPr lang="en-IN" dirty="0"/>
              <a:t> StandardScaler → RandomForestRegressor (using scikit-learn Pipeline) </a:t>
            </a:r>
          </a:p>
          <a:p>
            <a:pPr marL="0" indent="0" algn="just">
              <a:lnSpc>
                <a:spcPct val="150000"/>
              </a:lnSpc>
              <a:buNone/>
            </a:pPr>
            <a:r>
              <a:rPr lang="en-IN" b="1" dirty="0">
                <a:solidFill>
                  <a:srgbClr val="FF0000"/>
                </a:solidFill>
              </a:rPr>
              <a:t>Model Configuration :</a:t>
            </a:r>
          </a:p>
          <a:p>
            <a:pPr algn="just">
              <a:lnSpc>
                <a:spcPct val="150000"/>
              </a:lnSpc>
            </a:pPr>
            <a:r>
              <a:rPr lang="en-IN" b="1" dirty="0"/>
              <a:t>Number of Trees:</a:t>
            </a:r>
            <a:r>
              <a:rPr lang="en-IN" dirty="0"/>
              <a:t> 300 decision trees (</a:t>
            </a:r>
            <a:r>
              <a:rPr lang="en-IN" i="1" dirty="0" err="1"/>
              <a:t>n_estimators</a:t>
            </a:r>
            <a:r>
              <a:rPr lang="en-IN" i="1" dirty="0"/>
              <a:t> = 300</a:t>
            </a:r>
            <a:r>
              <a:rPr lang="en-IN" dirty="0"/>
              <a:t>) </a:t>
            </a:r>
          </a:p>
          <a:p>
            <a:pPr algn="just">
              <a:lnSpc>
                <a:spcPct val="150000"/>
              </a:lnSpc>
            </a:pPr>
            <a:r>
              <a:rPr lang="en-IN" b="1" dirty="0"/>
              <a:t>Max Depth:</a:t>
            </a:r>
            <a:r>
              <a:rPr lang="en-IN" dirty="0"/>
              <a:t> 12 (</a:t>
            </a:r>
            <a:r>
              <a:rPr lang="en-IN" i="1" dirty="0" err="1"/>
              <a:t>max_depth</a:t>
            </a:r>
            <a:r>
              <a:rPr lang="en-IN" i="1" dirty="0"/>
              <a:t> = 12</a:t>
            </a:r>
            <a:r>
              <a:rPr lang="en-IN" dirty="0"/>
              <a:t>) </a:t>
            </a:r>
          </a:p>
          <a:p>
            <a:pPr algn="just">
              <a:lnSpc>
                <a:spcPct val="150000"/>
              </a:lnSpc>
            </a:pPr>
            <a:r>
              <a:rPr lang="en-IN" b="1" dirty="0"/>
              <a:t>Min Samples Split:</a:t>
            </a:r>
            <a:r>
              <a:rPr lang="en-IN" dirty="0"/>
              <a:t> 4 (</a:t>
            </a:r>
            <a:r>
              <a:rPr lang="en-IN" i="1" dirty="0" err="1"/>
              <a:t>min_samples_split</a:t>
            </a:r>
            <a:r>
              <a:rPr lang="en-IN" i="1" dirty="0"/>
              <a:t> = 4</a:t>
            </a:r>
            <a:r>
              <a:rPr lang="en-IN" dirty="0"/>
              <a:t>)</a:t>
            </a:r>
          </a:p>
          <a:p>
            <a:pPr marL="0" indent="0">
              <a:buNone/>
            </a:pPr>
            <a:endParaRPr lang="en-IN" dirty="0"/>
          </a:p>
        </p:txBody>
      </p:sp>
    </p:spTree>
    <p:extLst>
      <p:ext uri="{BB962C8B-B14F-4D97-AF65-F5344CB8AC3E}">
        <p14:creationId xmlns:p14="http://schemas.microsoft.com/office/powerpoint/2010/main" val="3566803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55E37-2313-7157-FD1D-9E4452BDC896}"/>
            </a:ext>
          </a:extLst>
        </p:cNvPr>
        <p:cNvGrpSpPr/>
        <p:nvPr/>
      </p:nvGrpSpPr>
      <p:grpSpPr>
        <a:xfrm>
          <a:off x="0" y="0"/>
          <a:ext cx="0" cy="0"/>
          <a:chOff x="0" y="0"/>
          <a:chExt cx="0" cy="0"/>
        </a:xfrm>
      </p:grpSpPr>
      <p:pic>
        <p:nvPicPr>
          <p:cNvPr id="4" name="Picture 3" descr="WhatsApp Image 2024-08-23 at 15.43.17">
            <a:extLst>
              <a:ext uri="{FF2B5EF4-FFF2-40B4-BE49-F238E27FC236}">
                <a16:creationId xmlns:a16="http://schemas.microsoft.com/office/drawing/2014/main" id="{4C408473-9738-2AC6-7114-C9E0851BDFED}"/>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32C5EA1F-BB75-A58F-C268-71CEFB0D41D3}"/>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C349221C-2622-01BE-82D5-BE9281C6B984}"/>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7BA3D14B-AFCE-6FBD-7DB2-7147B70CC50D}"/>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FD1EE673-B8B3-8829-95CA-ABFB059C3F37}"/>
              </a:ext>
            </a:extLst>
          </p:cNvPr>
          <p:cNvSpPr>
            <a:spLocks noGrp="1"/>
          </p:cNvSpPr>
          <p:nvPr>
            <p:ph type="title"/>
          </p:nvPr>
        </p:nvSpPr>
        <p:spPr>
          <a:xfrm>
            <a:off x="838200" y="671300"/>
            <a:ext cx="10515600" cy="1325563"/>
          </a:xfrm>
        </p:spPr>
        <p:txBody>
          <a:bodyPr/>
          <a:lstStyle/>
          <a:p>
            <a:r>
              <a:rPr lang="en-US" dirty="0"/>
              <a:t>Description of the Model/Algorithm(s) Used</a:t>
            </a:r>
            <a:endParaRPr lang="en-IN" dirty="0"/>
          </a:p>
        </p:txBody>
      </p:sp>
      <p:sp>
        <p:nvSpPr>
          <p:cNvPr id="10" name="Content Placeholder 9">
            <a:extLst>
              <a:ext uri="{FF2B5EF4-FFF2-40B4-BE49-F238E27FC236}">
                <a16:creationId xmlns:a16="http://schemas.microsoft.com/office/drawing/2014/main" id="{0921A8B9-BB73-D23D-BC7B-FF71AA0C77B6}"/>
              </a:ext>
            </a:extLst>
          </p:cNvPr>
          <p:cNvSpPr>
            <a:spLocks noGrp="1"/>
          </p:cNvSpPr>
          <p:nvPr>
            <p:ph idx="1"/>
          </p:nvPr>
        </p:nvSpPr>
        <p:spPr>
          <a:xfrm>
            <a:off x="838200" y="1771547"/>
            <a:ext cx="10515600" cy="5086453"/>
          </a:xfrm>
        </p:spPr>
        <p:txBody>
          <a:bodyPr>
            <a:normAutofit fontScale="85000" lnSpcReduction="20000"/>
          </a:bodyPr>
          <a:lstStyle/>
          <a:p>
            <a:pPr marL="0" indent="0">
              <a:lnSpc>
                <a:spcPct val="150000"/>
              </a:lnSpc>
              <a:buNone/>
            </a:pPr>
            <a:r>
              <a:rPr lang="en-IN" b="1" dirty="0">
                <a:solidFill>
                  <a:srgbClr val="FF0000"/>
                </a:solidFill>
              </a:rPr>
              <a:t>Input &amp; Output :</a:t>
            </a:r>
          </a:p>
          <a:p>
            <a:pPr>
              <a:lnSpc>
                <a:spcPct val="150000"/>
              </a:lnSpc>
            </a:pPr>
            <a:r>
              <a:rPr lang="en-IN" b="1" dirty="0"/>
              <a:t>Input Features (8):</a:t>
            </a:r>
            <a:r>
              <a:rPr lang="en-IN" dirty="0"/>
              <a:t>PM2.5, PM10, NO₂, O₃, CO, Temperature, Humidity, Wind Speed </a:t>
            </a:r>
          </a:p>
          <a:p>
            <a:pPr>
              <a:lnSpc>
                <a:spcPct val="150000"/>
              </a:lnSpc>
            </a:pPr>
            <a:r>
              <a:rPr lang="en-IN" b="1" dirty="0"/>
              <a:t>Target </a:t>
            </a:r>
            <a:r>
              <a:rPr lang="en-IN" b="1" dirty="0" err="1"/>
              <a:t>Variable:</a:t>
            </a:r>
            <a:r>
              <a:rPr lang="en-IN" dirty="0" err="1"/>
              <a:t>AQI</a:t>
            </a:r>
            <a:r>
              <a:rPr lang="en-IN" dirty="0"/>
              <a:t> (Air Quality Index) — continuous range (0–500) </a:t>
            </a:r>
            <a:br>
              <a:rPr lang="en-IN" dirty="0"/>
            </a:br>
            <a:endParaRPr lang="en-IN" dirty="0"/>
          </a:p>
          <a:p>
            <a:pPr marL="0" indent="0">
              <a:lnSpc>
                <a:spcPct val="150000"/>
              </a:lnSpc>
              <a:buNone/>
            </a:pPr>
            <a:r>
              <a:rPr lang="en-IN" b="1" dirty="0">
                <a:solidFill>
                  <a:srgbClr val="FF0000"/>
                </a:solidFill>
              </a:rPr>
              <a:t>Data &amp; Training :</a:t>
            </a:r>
          </a:p>
          <a:p>
            <a:pPr>
              <a:lnSpc>
                <a:spcPct val="150000"/>
              </a:lnSpc>
            </a:pPr>
            <a:r>
              <a:rPr lang="en-IN" b="1" dirty="0"/>
              <a:t>Data Generation:</a:t>
            </a:r>
            <a:r>
              <a:rPr lang="en-IN" dirty="0"/>
              <a:t>1,200 synthetic samples using NumPy</a:t>
            </a:r>
            <a:br>
              <a:rPr lang="en-IN" dirty="0"/>
            </a:br>
            <a:r>
              <a:rPr lang="en-IN" dirty="0"/>
              <a:t>(AQI calculated via weighted linear equation + Gaussian noise) </a:t>
            </a:r>
          </a:p>
          <a:p>
            <a:pPr>
              <a:lnSpc>
                <a:spcPct val="150000"/>
              </a:lnSpc>
            </a:pPr>
            <a:r>
              <a:rPr lang="en-IN" b="1" dirty="0"/>
              <a:t>Train/Test Split:</a:t>
            </a:r>
            <a:r>
              <a:rPr lang="en-IN" dirty="0"/>
              <a:t>80/20 split (</a:t>
            </a:r>
            <a:r>
              <a:rPr lang="en-IN" i="1" dirty="0" err="1"/>
              <a:t>random_state</a:t>
            </a:r>
            <a:r>
              <a:rPr lang="en-IN" i="1" dirty="0"/>
              <a:t> = 42</a:t>
            </a:r>
            <a:r>
              <a:rPr lang="en-IN" dirty="0"/>
              <a:t>)</a:t>
            </a:r>
          </a:p>
          <a:p>
            <a:pPr marL="0" indent="0">
              <a:buNone/>
            </a:pPr>
            <a:endParaRPr lang="en-IN" dirty="0"/>
          </a:p>
        </p:txBody>
      </p:sp>
    </p:spTree>
    <p:extLst>
      <p:ext uri="{BB962C8B-B14F-4D97-AF65-F5344CB8AC3E}">
        <p14:creationId xmlns:p14="http://schemas.microsoft.com/office/powerpoint/2010/main" val="919095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E0E7D-3AC6-29D6-F6F7-9B6EEAB559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F3CB47-D285-8945-9D3E-10F2088B32A1}"/>
              </a:ext>
            </a:extLst>
          </p:cNvPr>
          <p:cNvSpPr>
            <a:spLocks noGrp="1"/>
          </p:cNvSpPr>
          <p:nvPr>
            <p:ph idx="1"/>
          </p:nvPr>
        </p:nvSpPr>
        <p:spPr>
          <a:xfrm>
            <a:off x="838200" y="2137372"/>
            <a:ext cx="10515600" cy="4586264"/>
          </a:xfrm>
        </p:spPr>
        <p:txBody>
          <a:bodyPr>
            <a:normAutofit fontScale="62500" lnSpcReduction="20000"/>
          </a:bodyPr>
          <a:lstStyle/>
          <a:p>
            <a:pPr marL="0" indent="0" algn="just">
              <a:lnSpc>
                <a:spcPct val="120000"/>
              </a:lnSpc>
              <a:buNone/>
            </a:pPr>
            <a:r>
              <a:rPr lang="en-IN" b="1" dirty="0">
                <a:solidFill>
                  <a:srgbClr val="FF0000"/>
                </a:solidFill>
              </a:rPr>
              <a:t>Model Performance Metrics :</a:t>
            </a:r>
          </a:p>
          <a:p>
            <a:pPr algn="just">
              <a:lnSpc>
                <a:spcPct val="120000"/>
              </a:lnSpc>
            </a:pPr>
            <a:r>
              <a:rPr lang="en-IN" b="1" dirty="0"/>
              <a:t>R² Score:</a:t>
            </a:r>
            <a:r>
              <a:rPr lang="en-IN" dirty="0"/>
              <a:t> 0.9342 (</a:t>
            </a:r>
            <a:r>
              <a:rPr lang="en-IN" b="1" dirty="0"/>
              <a:t>93.42%</a:t>
            </a:r>
            <a:r>
              <a:rPr lang="en-IN" dirty="0"/>
              <a:t>) </a:t>
            </a:r>
          </a:p>
          <a:p>
            <a:pPr algn="just">
              <a:lnSpc>
                <a:spcPct val="120000"/>
              </a:lnSpc>
            </a:pPr>
            <a:r>
              <a:rPr lang="en-IN" b="1" dirty="0"/>
              <a:t>MAE (Mean Absolute Error):</a:t>
            </a:r>
            <a:r>
              <a:rPr lang="en-IN" dirty="0"/>
              <a:t> 21.78 </a:t>
            </a:r>
          </a:p>
          <a:p>
            <a:pPr algn="just">
              <a:lnSpc>
                <a:spcPct val="120000"/>
              </a:lnSpc>
            </a:pPr>
            <a:r>
              <a:rPr lang="en-IN" b="1" dirty="0"/>
              <a:t>RMSE (Root Mean Squared Error):</a:t>
            </a:r>
            <a:r>
              <a:rPr lang="en-IN" dirty="0"/>
              <a:t> 22.19 </a:t>
            </a:r>
          </a:p>
          <a:p>
            <a:pPr marL="0" indent="0" algn="just">
              <a:lnSpc>
                <a:spcPct val="120000"/>
              </a:lnSpc>
              <a:buNone/>
            </a:pPr>
            <a:r>
              <a:rPr lang="en-IN" b="1" dirty="0">
                <a:solidFill>
                  <a:srgbClr val="FF0000"/>
                </a:solidFill>
              </a:rPr>
              <a:t>Dataset Split :</a:t>
            </a:r>
          </a:p>
          <a:p>
            <a:pPr algn="just">
              <a:lnSpc>
                <a:spcPct val="120000"/>
              </a:lnSpc>
            </a:pPr>
            <a:r>
              <a:rPr lang="en-IN" b="1" dirty="0"/>
              <a:t>Training Samples:</a:t>
            </a:r>
            <a:r>
              <a:rPr lang="en-IN" dirty="0"/>
              <a:t> 8 </a:t>
            </a:r>
          </a:p>
          <a:p>
            <a:pPr algn="just">
              <a:lnSpc>
                <a:spcPct val="120000"/>
              </a:lnSpc>
            </a:pPr>
            <a:r>
              <a:rPr lang="en-IN" b="1" dirty="0"/>
              <a:t>Test Samples:</a:t>
            </a:r>
            <a:r>
              <a:rPr lang="en-IN" dirty="0"/>
              <a:t> 2 </a:t>
            </a:r>
            <a:r>
              <a:rPr lang="en-IN" i="1" dirty="0"/>
              <a:t>(Note: Based on small sample CSV; full dataset contains 1,200 samples)</a:t>
            </a:r>
            <a:r>
              <a:rPr lang="en-IN" dirty="0"/>
              <a:t> </a:t>
            </a:r>
          </a:p>
          <a:p>
            <a:pPr marL="0" indent="0" algn="just">
              <a:lnSpc>
                <a:spcPct val="120000"/>
              </a:lnSpc>
              <a:buNone/>
            </a:pPr>
            <a:r>
              <a:rPr lang="en-IN" b="1" dirty="0"/>
              <a:t> </a:t>
            </a:r>
            <a:r>
              <a:rPr lang="en-IN" b="1" dirty="0">
                <a:solidFill>
                  <a:srgbClr val="FF0000"/>
                </a:solidFill>
              </a:rPr>
              <a:t>Performance Insight :</a:t>
            </a:r>
          </a:p>
          <a:p>
            <a:pPr algn="just">
              <a:lnSpc>
                <a:spcPct val="120000"/>
              </a:lnSpc>
            </a:pPr>
            <a:r>
              <a:rPr lang="en-IN" dirty="0"/>
              <a:t>The model achieves an </a:t>
            </a:r>
            <a:r>
              <a:rPr lang="en-IN" b="1" dirty="0"/>
              <a:t>R² score of 93.42%</a:t>
            </a:r>
            <a:r>
              <a:rPr lang="en-IN" dirty="0"/>
              <a:t>, </a:t>
            </a:r>
          </a:p>
          <a:p>
            <a:pPr algn="just">
              <a:lnSpc>
                <a:spcPct val="120000"/>
              </a:lnSpc>
            </a:pPr>
            <a:r>
              <a:rPr lang="en-IN" dirty="0"/>
              <a:t>This means it explains </a:t>
            </a:r>
            <a:r>
              <a:rPr lang="en-IN" b="1" dirty="0"/>
              <a:t>~93% of the variation in AQI values</a:t>
            </a:r>
            <a:r>
              <a:rPr lang="en-IN" dirty="0"/>
              <a:t> </a:t>
            </a:r>
          </a:p>
          <a:p>
            <a:pPr algn="just">
              <a:lnSpc>
                <a:spcPct val="120000"/>
              </a:lnSpc>
            </a:pPr>
            <a:r>
              <a:rPr lang="en-IN" b="1" dirty="0"/>
              <a:t>Conclusion:</a:t>
            </a:r>
            <a:r>
              <a:rPr lang="en-IN" dirty="0"/>
              <a:t> Predictions are </a:t>
            </a:r>
            <a:r>
              <a:rPr lang="en-IN" b="1" dirty="0"/>
              <a:t>highly accurate</a:t>
            </a:r>
            <a:r>
              <a:rPr lang="en-IN" dirty="0"/>
              <a:t> and closely match actual AQI</a:t>
            </a:r>
          </a:p>
          <a:p>
            <a:endParaRPr lang="en-IN" dirty="0"/>
          </a:p>
        </p:txBody>
      </p:sp>
      <p:pic>
        <p:nvPicPr>
          <p:cNvPr id="4" name="Picture 3" descr="WhatsApp Image 2024-08-23 at 15.43.17">
            <a:extLst>
              <a:ext uri="{FF2B5EF4-FFF2-40B4-BE49-F238E27FC236}">
                <a16:creationId xmlns:a16="http://schemas.microsoft.com/office/drawing/2014/main" id="{E929528A-9916-AA8F-97DC-58B85C24C800}"/>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5B49A31B-316B-29E0-674D-5F64AE7FF2AC}"/>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23E9392F-D43E-CD46-A675-A68BE22401C6}"/>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75E128A-4573-53F0-3A32-678A45D33A19}"/>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67E581F3-0F3A-1F37-C8D3-1C465842DB6B}"/>
              </a:ext>
            </a:extLst>
          </p:cNvPr>
          <p:cNvSpPr>
            <a:spLocks noGrp="1"/>
          </p:cNvSpPr>
          <p:nvPr>
            <p:ph type="title"/>
          </p:nvPr>
        </p:nvSpPr>
        <p:spPr>
          <a:xfrm>
            <a:off x="838200" y="811809"/>
            <a:ext cx="10515600" cy="1325563"/>
          </a:xfrm>
        </p:spPr>
        <p:txBody>
          <a:bodyPr/>
          <a:lstStyle/>
          <a:p>
            <a:r>
              <a:rPr lang="en-US" dirty="0"/>
              <a:t>Accuracy / Performance Metrics of the Model</a:t>
            </a:r>
            <a:endParaRPr lang="en-IN" dirty="0"/>
          </a:p>
        </p:txBody>
      </p:sp>
    </p:spTree>
    <p:extLst>
      <p:ext uri="{BB962C8B-B14F-4D97-AF65-F5344CB8AC3E}">
        <p14:creationId xmlns:p14="http://schemas.microsoft.com/office/powerpoint/2010/main" val="2848572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6C863-B7ED-EACA-8B86-C5D5D004980A}"/>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31EDA68-6B85-DCCD-77C2-74C315280786}"/>
              </a:ext>
            </a:extLst>
          </p:cNvPr>
          <p:cNvPicPr>
            <a:picLocks noGrp="1" noChangeAspect="1"/>
          </p:cNvPicPr>
          <p:nvPr>
            <p:ph idx="1"/>
          </p:nvPr>
        </p:nvPicPr>
        <p:blipFill>
          <a:blip r:embed="rId2"/>
          <a:stretch>
            <a:fillRect/>
          </a:stretch>
        </p:blipFill>
        <p:spPr>
          <a:xfrm>
            <a:off x="838200" y="2137372"/>
            <a:ext cx="8358576" cy="4351338"/>
          </a:xfrm>
          <a:prstGeom prst="rect">
            <a:avLst/>
          </a:prstGeom>
        </p:spPr>
      </p:pic>
      <p:pic>
        <p:nvPicPr>
          <p:cNvPr id="4" name="Picture 3" descr="WhatsApp Image 2024-08-23 at 15.43.17">
            <a:extLst>
              <a:ext uri="{FF2B5EF4-FFF2-40B4-BE49-F238E27FC236}">
                <a16:creationId xmlns:a16="http://schemas.microsoft.com/office/drawing/2014/main" id="{AC765E5D-DD50-C8EB-CE24-79B8C1281494}"/>
              </a:ext>
            </a:extLst>
          </p:cNvPr>
          <p:cNvPicPr>
            <a:picLocks noChangeAspect="1"/>
          </p:cNvPicPr>
          <p:nvPr/>
        </p:nvPicPr>
        <p:blipFill>
          <a:blip r:embed="rId3"/>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902CBD37-8CB4-D6A8-486B-59A57EA96C64}"/>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2A26232C-F2CA-E332-8B20-5A11233F3BF4}"/>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CFCD5994-99F0-F689-4C8B-466B8FDB48D5}"/>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0D530503-BB2A-8C4B-6EF6-6079CAEAE76A}"/>
              </a:ext>
            </a:extLst>
          </p:cNvPr>
          <p:cNvSpPr>
            <a:spLocks noGrp="1"/>
          </p:cNvSpPr>
          <p:nvPr>
            <p:ph type="title"/>
          </p:nvPr>
        </p:nvSpPr>
        <p:spPr>
          <a:xfrm>
            <a:off x="838200" y="811809"/>
            <a:ext cx="10515600" cy="1325563"/>
          </a:xfrm>
        </p:spPr>
        <p:txBody>
          <a:bodyPr/>
          <a:lstStyle/>
          <a:p>
            <a:r>
              <a:rPr lang="en-IN" dirty="0"/>
              <a:t>Figures/Plots Showing Results</a:t>
            </a:r>
          </a:p>
        </p:txBody>
      </p:sp>
    </p:spTree>
    <p:extLst>
      <p:ext uri="{BB962C8B-B14F-4D97-AF65-F5344CB8AC3E}">
        <p14:creationId xmlns:p14="http://schemas.microsoft.com/office/powerpoint/2010/main" val="4091214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D91C0-26B4-1F63-2679-E0997C85A462}"/>
            </a:ext>
          </a:extLst>
        </p:cNvPr>
        <p:cNvGrpSpPr/>
        <p:nvPr/>
      </p:nvGrpSpPr>
      <p:grpSpPr>
        <a:xfrm>
          <a:off x="0" y="0"/>
          <a:ext cx="0" cy="0"/>
          <a:chOff x="0" y="0"/>
          <a:chExt cx="0" cy="0"/>
        </a:xfrm>
      </p:grpSpPr>
      <p:pic>
        <p:nvPicPr>
          <p:cNvPr id="4" name="Picture 3" descr="WhatsApp Image 2024-08-23 at 15.43.17">
            <a:extLst>
              <a:ext uri="{FF2B5EF4-FFF2-40B4-BE49-F238E27FC236}">
                <a16:creationId xmlns:a16="http://schemas.microsoft.com/office/drawing/2014/main" id="{FD4B858D-0B54-8DFF-09DB-6EBC423D6849}"/>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2A5ADA2A-BE7E-7BB0-9ACA-87AD11AF400E}"/>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7A443DE9-FA7A-C3B1-D1F8-401F55178CA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F279D42B-4A43-37A8-4594-3A20500CEF1E}"/>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BD5CEA2C-A256-73B0-C2FC-3668BFAC38A9}"/>
              </a:ext>
            </a:extLst>
          </p:cNvPr>
          <p:cNvSpPr>
            <a:spLocks noGrp="1"/>
          </p:cNvSpPr>
          <p:nvPr>
            <p:ph type="title"/>
          </p:nvPr>
        </p:nvSpPr>
        <p:spPr>
          <a:xfrm>
            <a:off x="838200" y="811809"/>
            <a:ext cx="10515600" cy="1325563"/>
          </a:xfrm>
        </p:spPr>
        <p:txBody>
          <a:bodyPr/>
          <a:lstStyle/>
          <a:p>
            <a:r>
              <a:rPr lang="en-IN" dirty="0"/>
              <a:t>Figures/Plots Showing Results</a:t>
            </a:r>
          </a:p>
        </p:txBody>
      </p:sp>
      <p:pic>
        <p:nvPicPr>
          <p:cNvPr id="11" name="Content Placeholder 10">
            <a:extLst>
              <a:ext uri="{FF2B5EF4-FFF2-40B4-BE49-F238E27FC236}">
                <a16:creationId xmlns:a16="http://schemas.microsoft.com/office/drawing/2014/main" id="{8EB21B9E-0684-5329-E9FE-A2BD0912E877}"/>
              </a:ext>
            </a:extLst>
          </p:cNvPr>
          <p:cNvPicPr>
            <a:picLocks noGrp="1" noChangeAspect="1"/>
          </p:cNvPicPr>
          <p:nvPr>
            <p:ph idx="1"/>
          </p:nvPr>
        </p:nvPicPr>
        <p:blipFill>
          <a:blip r:embed="rId3"/>
          <a:stretch>
            <a:fillRect/>
          </a:stretch>
        </p:blipFill>
        <p:spPr>
          <a:xfrm>
            <a:off x="838200" y="2137372"/>
            <a:ext cx="5601929" cy="4351338"/>
          </a:xfrm>
          <a:prstGeom prst="rect">
            <a:avLst/>
          </a:prstGeom>
        </p:spPr>
      </p:pic>
      <p:pic>
        <p:nvPicPr>
          <p:cNvPr id="13" name="Picture 12">
            <a:extLst>
              <a:ext uri="{FF2B5EF4-FFF2-40B4-BE49-F238E27FC236}">
                <a16:creationId xmlns:a16="http://schemas.microsoft.com/office/drawing/2014/main" id="{6A2F3108-F6FF-A078-07E4-827876CC0F01}"/>
              </a:ext>
            </a:extLst>
          </p:cNvPr>
          <p:cNvPicPr>
            <a:picLocks noChangeAspect="1"/>
          </p:cNvPicPr>
          <p:nvPr/>
        </p:nvPicPr>
        <p:blipFill>
          <a:blip r:embed="rId4"/>
          <a:stretch>
            <a:fillRect/>
          </a:stretch>
        </p:blipFill>
        <p:spPr>
          <a:xfrm>
            <a:off x="6573017" y="2137372"/>
            <a:ext cx="5301340" cy="4351338"/>
          </a:xfrm>
          <a:prstGeom prst="rect">
            <a:avLst/>
          </a:prstGeom>
        </p:spPr>
      </p:pic>
    </p:spTree>
    <p:extLst>
      <p:ext uri="{BB962C8B-B14F-4D97-AF65-F5344CB8AC3E}">
        <p14:creationId xmlns:p14="http://schemas.microsoft.com/office/powerpoint/2010/main" val="3557300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7424E-AF8B-66FD-49EF-4261CB52D03A}"/>
            </a:ext>
          </a:extLst>
        </p:cNvPr>
        <p:cNvGrpSpPr/>
        <p:nvPr/>
      </p:nvGrpSpPr>
      <p:grpSpPr>
        <a:xfrm>
          <a:off x="0" y="0"/>
          <a:ext cx="0" cy="0"/>
          <a:chOff x="0" y="0"/>
          <a:chExt cx="0" cy="0"/>
        </a:xfrm>
      </p:grpSpPr>
      <p:pic>
        <p:nvPicPr>
          <p:cNvPr id="4" name="Picture 3" descr="WhatsApp Image 2024-08-23 at 15.43.17">
            <a:extLst>
              <a:ext uri="{FF2B5EF4-FFF2-40B4-BE49-F238E27FC236}">
                <a16:creationId xmlns:a16="http://schemas.microsoft.com/office/drawing/2014/main" id="{6EE5C5E3-F3E5-94A7-CABB-E5114FDF6769}"/>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2CF41576-BCD3-4079-9AF6-A2346DBE5E2C}"/>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4E5A8C7D-5124-3E2D-8B48-2922C4322BFC}"/>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99EB6E3-1CFB-FAFB-B479-9AB3A5081C62}"/>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7639BDCB-95ED-7B08-8F66-95D347A771D6}"/>
              </a:ext>
            </a:extLst>
          </p:cNvPr>
          <p:cNvSpPr>
            <a:spLocks noGrp="1"/>
          </p:cNvSpPr>
          <p:nvPr>
            <p:ph type="title"/>
          </p:nvPr>
        </p:nvSpPr>
        <p:spPr>
          <a:xfrm>
            <a:off x="838200" y="811809"/>
            <a:ext cx="10515600" cy="1325563"/>
          </a:xfrm>
        </p:spPr>
        <p:txBody>
          <a:bodyPr/>
          <a:lstStyle/>
          <a:p>
            <a:r>
              <a:rPr lang="en-IN" dirty="0"/>
              <a:t>Figures/Plots Showing Results</a:t>
            </a:r>
          </a:p>
        </p:txBody>
      </p:sp>
      <p:pic>
        <p:nvPicPr>
          <p:cNvPr id="13" name="Content Placeholder 12">
            <a:extLst>
              <a:ext uri="{FF2B5EF4-FFF2-40B4-BE49-F238E27FC236}">
                <a16:creationId xmlns:a16="http://schemas.microsoft.com/office/drawing/2014/main" id="{D63CD67F-FC51-F3CA-C512-6B432B9213BA}"/>
              </a:ext>
            </a:extLst>
          </p:cNvPr>
          <p:cNvPicPr>
            <a:picLocks noGrp="1" noChangeAspect="1"/>
          </p:cNvPicPr>
          <p:nvPr>
            <p:ph idx="1"/>
          </p:nvPr>
        </p:nvPicPr>
        <p:blipFill>
          <a:blip r:embed="rId3"/>
          <a:stretch>
            <a:fillRect/>
          </a:stretch>
        </p:blipFill>
        <p:spPr>
          <a:xfrm>
            <a:off x="838200" y="1982942"/>
            <a:ext cx="8358576" cy="4351338"/>
          </a:xfrm>
          <a:prstGeom prst="rect">
            <a:avLst/>
          </a:prstGeom>
        </p:spPr>
      </p:pic>
    </p:spTree>
    <p:extLst>
      <p:ext uri="{BB962C8B-B14F-4D97-AF65-F5344CB8AC3E}">
        <p14:creationId xmlns:p14="http://schemas.microsoft.com/office/powerpoint/2010/main" val="1182199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BC5C-D063-6142-F1B0-59C4FAE4496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8161C6-6EB9-EE06-DC8C-7F74D2EC7542}"/>
              </a:ext>
            </a:extLst>
          </p:cNvPr>
          <p:cNvSpPr>
            <a:spLocks noGrp="1"/>
          </p:cNvSpPr>
          <p:nvPr>
            <p:ph idx="1"/>
          </p:nvPr>
        </p:nvSpPr>
        <p:spPr>
          <a:xfrm>
            <a:off x="838200" y="2210534"/>
            <a:ext cx="10515600" cy="4351338"/>
          </a:xfrm>
        </p:spPr>
        <p:txBody>
          <a:bodyPr/>
          <a:lstStyle/>
          <a:p>
            <a:pPr marL="0" indent="0">
              <a:buNone/>
            </a:pPr>
            <a:r>
              <a:rPr lang="en-US" b="1" dirty="0">
                <a:solidFill>
                  <a:srgbClr val="FF0000"/>
                </a:solidFill>
              </a:rPr>
              <a:t>Outcome:</a:t>
            </a:r>
            <a:endParaRPr lang="en-US" dirty="0">
              <a:solidFill>
                <a:srgbClr val="FF0000"/>
              </a:solidFill>
            </a:endParaRPr>
          </a:p>
          <a:p>
            <a:r>
              <a:rPr lang="en-US" dirty="0"/>
              <a:t>Successfully built an end-to-end ML pipeline that trains a Random Forest model achieving </a:t>
            </a:r>
            <a:r>
              <a:rPr lang="en-US" b="1" dirty="0"/>
              <a:t>93.42% R² accuracy</a:t>
            </a:r>
            <a:r>
              <a:rPr lang="en-US" dirty="0"/>
              <a:t> in predicting Air Quality Index from 8 environmental features.</a:t>
            </a:r>
          </a:p>
          <a:p>
            <a:r>
              <a:rPr lang="en-US" dirty="0"/>
              <a:t>Developed a feature-rich, production-quality web dashboard with real-time AQI monitoring for 500+ cities, 7-day AQI forecasting, city-to-city comparison, 6-pollutant analysis, weather integration, and personalized health recommendations (Do's &amp; Don'ts).</a:t>
            </a:r>
          </a:p>
          <a:p>
            <a:r>
              <a:rPr lang="en-US" dirty="0"/>
              <a:t>The system classifies AQI into 6 WHO-standard health tiers and provides tailored health advisories for each category.</a:t>
            </a:r>
          </a:p>
        </p:txBody>
      </p:sp>
      <p:pic>
        <p:nvPicPr>
          <p:cNvPr id="4" name="Picture 3" descr="WhatsApp Image 2024-08-23 at 15.43.17">
            <a:extLst>
              <a:ext uri="{FF2B5EF4-FFF2-40B4-BE49-F238E27FC236}">
                <a16:creationId xmlns:a16="http://schemas.microsoft.com/office/drawing/2014/main" id="{9E2F278E-F1C9-C183-11DB-E9F98337E0C1}"/>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450861AE-74BC-6AEE-8DC1-CA5516266319}"/>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227BF0F0-D9C7-B8F5-79F0-E3EBB42AE31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F2D902E-556B-2C27-DAE7-A69C8A304F04}"/>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41522006-1518-B497-79DA-DE5958673948}"/>
              </a:ext>
            </a:extLst>
          </p:cNvPr>
          <p:cNvSpPr>
            <a:spLocks noGrp="1"/>
          </p:cNvSpPr>
          <p:nvPr>
            <p:ph type="title"/>
          </p:nvPr>
        </p:nvSpPr>
        <p:spPr>
          <a:xfrm>
            <a:off x="838200" y="884971"/>
            <a:ext cx="10515600" cy="1325563"/>
          </a:xfrm>
        </p:spPr>
        <p:txBody>
          <a:bodyPr/>
          <a:lstStyle/>
          <a:p>
            <a:r>
              <a:rPr lang="en-US" dirty="0"/>
              <a:t>Outcome &amp; Conclusion of the Project</a:t>
            </a:r>
            <a:endParaRPr lang="en-IN" dirty="0"/>
          </a:p>
        </p:txBody>
      </p:sp>
    </p:spTree>
    <p:extLst>
      <p:ext uri="{BB962C8B-B14F-4D97-AF65-F5344CB8AC3E}">
        <p14:creationId xmlns:p14="http://schemas.microsoft.com/office/powerpoint/2010/main" val="3679541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1344F-D8FD-A99C-D4E2-D9B043648A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60E1F5-E594-35EE-1726-E31451800ADD}"/>
              </a:ext>
            </a:extLst>
          </p:cNvPr>
          <p:cNvSpPr>
            <a:spLocks noGrp="1"/>
          </p:cNvSpPr>
          <p:nvPr>
            <p:ph idx="1"/>
          </p:nvPr>
        </p:nvSpPr>
        <p:spPr>
          <a:xfrm>
            <a:off x="838200" y="2216078"/>
            <a:ext cx="10515600" cy="4351338"/>
          </a:xfrm>
        </p:spPr>
        <p:txBody>
          <a:bodyPr/>
          <a:lstStyle/>
          <a:p>
            <a:r>
              <a:rPr lang="en-US" b="1" dirty="0">
                <a:solidFill>
                  <a:srgbClr val="FF0000"/>
                </a:solidFill>
              </a:rPr>
              <a:t>Conclusion:</a:t>
            </a:r>
            <a:r>
              <a:rPr lang="en-US" dirty="0">
                <a:solidFill>
                  <a:srgbClr val="FF0000"/>
                </a:solidFill>
              </a:rPr>
              <a:t> </a:t>
            </a:r>
            <a:r>
              <a:rPr lang="en-US" dirty="0"/>
              <a:t>Air Sense demonstrates that machine learning can be effectively applied to environmental health monitoring. The Random Forest Regressor, combined with feature scaling, yields strong predictive performance (R² = 0.9342) for AQI estimation using common pollutant and weather parameters. The project bridges the gap between raw environmental data and actionable health insights by presenting results through an intuitive, visually engaging dashboard — making air quality information accessible to the general public. It serves as a practical example of combining supervised learning with frontend engineering to address a real-world public health challenge.</a:t>
            </a:r>
            <a:endParaRPr lang="en-IN" dirty="0"/>
          </a:p>
        </p:txBody>
      </p:sp>
      <p:pic>
        <p:nvPicPr>
          <p:cNvPr id="4" name="Picture 3" descr="WhatsApp Image 2024-08-23 at 15.43.17">
            <a:extLst>
              <a:ext uri="{FF2B5EF4-FFF2-40B4-BE49-F238E27FC236}">
                <a16:creationId xmlns:a16="http://schemas.microsoft.com/office/drawing/2014/main" id="{CC7BDA1B-9074-3E05-2218-FB91F68370A3}"/>
              </a:ext>
            </a:extLst>
          </p:cNvPr>
          <p:cNvPicPr>
            <a:picLocks noChangeAspect="1"/>
          </p:cNvPicPr>
          <p:nvPr/>
        </p:nvPicPr>
        <p:blipFill>
          <a:blip r:embed="rId2"/>
          <a:stretch>
            <a:fillRect/>
          </a:stretch>
        </p:blipFill>
        <p:spPr>
          <a:xfrm>
            <a:off x="317643" y="144259"/>
            <a:ext cx="1719435" cy="677445"/>
          </a:xfrm>
          <a:prstGeom prst="rect">
            <a:avLst/>
          </a:prstGeom>
        </p:spPr>
      </p:pic>
      <p:grpSp>
        <p:nvGrpSpPr>
          <p:cNvPr id="5" name="Group 4">
            <a:extLst>
              <a:ext uri="{FF2B5EF4-FFF2-40B4-BE49-F238E27FC236}">
                <a16:creationId xmlns:a16="http://schemas.microsoft.com/office/drawing/2014/main" id="{59AC0364-1198-0074-63D3-CBB8CC3F6DB4}"/>
              </a:ext>
            </a:extLst>
          </p:cNvPr>
          <p:cNvGrpSpPr/>
          <p:nvPr/>
        </p:nvGrpSpPr>
        <p:grpSpPr>
          <a:xfrm>
            <a:off x="2336800" y="134364"/>
            <a:ext cx="9855200" cy="677445"/>
            <a:chOff x="2336800" y="134364"/>
            <a:chExt cx="9855200" cy="677445"/>
          </a:xfrm>
          <a:solidFill>
            <a:srgbClr val="194E91"/>
          </a:solidFill>
        </p:grpSpPr>
        <p:sp>
          <p:nvSpPr>
            <p:cNvPr id="6" name="TextBox 5">
              <a:extLst>
                <a:ext uri="{FF2B5EF4-FFF2-40B4-BE49-F238E27FC236}">
                  <a16:creationId xmlns:a16="http://schemas.microsoft.com/office/drawing/2014/main" id="{874F951A-F98E-F042-7F36-B5A45E28540C}"/>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2F6DE8E7-F3F2-0377-F733-8FCF50139F02}"/>
                </a:ext>
              </a:extLst>
            </p:cNvPr>
            <p:cNvSpPr txBox="1"/>
            <p:nvPr/>
          </p:nvSpPr>
          <p:spPr>
            <a:xfrm>
              <a:off x="2504440" y="213070"/>
              <a:ext cx="9687560" cy="400110"/>
            </a:xfrm>
            <a:prstGeom prst="rect">
              <a:avLst/>
            </a:prstGeom>
            <a:grpFill/>
          </p:spPr>
          <p:txBody>
            <a:bodyPr wrap="square" rtlCol="0">
              <a:spAutoFit/>
            </a:bodyPr>
            <a:lstStyle/>
            <a:p>
              <a:pPr algn="ctr"/>
              <a:r>
                <a:rPr lang="en-US" sz="2000" b="1" dirty="0">
                  <a:solidFill>
                    <a:schemeClr val="bg1"/>
                  </a:solidFill>
                </a:rPr>
                <a:t>Department of CSE, School of CS&amp; AI, SR University</a:t>
              </a:r>
            </a:p>
          </p:txBody>
        </p:sp>
      </p:grpSp>
      <p:sp>
        <p:nvSpPr>
          <p:cNvPr id="9" name="Title 8">
            <a:extLst>
              <a:ext uri="{FF2B5EF4-FFF2-40B4-BE49-F238E27FC236}">
                <a16:creationId xmlns:a16="http://schemas.microsoft.com/office/drawing/2014/main" id="{420C54F6-22D3-88E8-E19B-81C028A0A7F3}"/>
              </a:ext>
            </a:extLst>
          </p:cNvPr>
          <p:cNvSpPr>
            <a:spLocks noGrp="1"/>
          </p:cNvSpPr>
          <p:nvPr>
            <p:ph type="title"/>
          </p:nvPr>
        </p:nvSpPr>
        <p:spPr>
          <a:xfrm>
            <a:off x="838200" y="890515"/>
            <a:ext cx="10515600" cy="1325563"/>
          </a:xfrm>
        </p:spPr>
        <p:txBody>
          <a:bodyPr/>
          <a:lstStyle/>
          <a:p>
            <a:r>
              <a:rPr lang="en-US" dirty="0"/>
              <a:t>Outcome &amp; Conclusion of the Project</a:t>
            </a:r>
            <a:endParaRPr lang="en-IN" dirty="0"/>
          </a:p>
        </p:txBody>
      </p:sp>
    </p:spTree>
    <p:extLst>
      <p:ext uri="{BB962C8B-B14F-4D97-AF65-F5344CB8AC3E}">
        <p14:creationId xmlns:p14="http://schemas.microsoft.com/office/powerpoint/2010/main" val="2742812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900</Words>
  <Application>Microsoft Office PowerPoint</Application>
  <PresentationFormat>Widescreen</PresentationFormat>
  <Paragraphs>70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    Air Sense: Real-Time Air Quality Index Prediction Using Machine Learning</vt:lpstr>
      <vt:lpstr>Project Title &amp; Problem Statement</vt:lpstr>
      <vt:lpstr>Explanation of the Project</vt:lpstr>
      <vt:lpstr>Explanation of the Project</vt:lpstr>
      <vt:lpstr>Description of the Model/Algorithm(s) Used</vt:lpstr>
      <vt:lpstr>Description of the Model/Algorithm(s) Used</vt:lpstr>
      <vt:lpstr>Accuracy / Performance Metrics of the Model</vt:lpstr>
      <vt:lpstr>Figures/Plots Showing Results</vt:lpstr>
      <vt:lpstr>Figures/Plots Showing Results</vt:lpstr>
      <vt:lpstr>Figures/Plots Showing Results</vt:lpstr>
      <vt:lpstr>Outcome &amp; Conclusion of the Project</vt:lpstr>
      <vt:lpstr>Outcome &amp; Conclusion of the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Team Number :</dc:title>
  <dc:creator>Dr. Sheshikala Martha</dc:creator>
  <cp:lastModifiedBy>Sanjansah Guntipelly</cp:lastModifiedBy>
  <cp:revision>9</cp:revision>
  <dcterms:created xsi:type="dcterms:W3CDTF">2024-11-18T08:52:23Z</dcterms:created>
  <dcterms:modified xsi:type="dcterms:W3CDTF">2026-04-14T09:58:06Z</dcterms:modified>
</cp:coreProperties>
</file>